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
  </p:notesMasterIdLst>
  <p:sldIdLst>
    <p:sldId id="305" r:id="rId2"/>
    <p:sldId id="336" r:id="rId3"/>
    <p:sldId id="337" r:id="rId4"/>
    <p:sldId id="339" r:id="rId5"/>
    <p:sldId id="338" r:id="rId6"/>
    <p:sldId id="340" r:id="rId7"/>
    <p:sldId id="333" r:id="rId8"/>
    <p:sldId id="335"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ichiel Wanninkhof" initials="MW" lastIdx="1" clrIdx="0">
    <p:extLst>
      <p:ext uri="{19B8F6BF-5375-455C-9EA6-DF929625EA0E}">
        <p15:presenceInfo xmlns:p15="http://schemas.microsoft.com/office/powerpoint/2012/main" userId="38d5a2c0b43e0f10"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5608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918" autoAdjust="0"/>
    <p:restoredTop sz="94660"/>
  </p:normalViewPr>
  <p:slideViewPr>
    <p:cSldViewPr snapToGrid="0">
      <p:cViewPr varScale="1">
        <p:scale>
          <a:sx n="150" d="100"/>
          <a:sy n="150" d="100"/>
        </p:scale>
        <p:origin x="138"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commentAuthors" Target="commentAuthors.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nl-NL"/>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77041FD-4FDF-44D4-AB5C-1AA5E0E5F76A}" type="datetimeFigureOut">
              <a:rPr lang="nl-NL" smtClean="0"/>
              <a:t>9-3-2026</a:t>
            </a:fld>
            <a:endParaRPr lang="nl-NL"/>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nl-NL"/>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nl-NL"/>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F85C2C2-6911-439B-BE39-4020DF6C66FE}" type="slidenum">
              <a:rPr lang="nl-NL" smtClean="0"/>
              <a:t>‹#›</a:t>
            </a:fld>
            <a:endParaRPr lang="nl-NL"/>
          </a:p>
        </p:txBody>
      </p:sp>
    </p:spTree>
    <p:extLst>
      <p:ext uri="{BB962C8B-B14F-4D97-AF65-F5344CB8AC3E}">
        <p14:creationId xmlns:p14="http://schemas.microsoft.com/office/powerpoint/2010/main" val="37172459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3E9107-79CA-AECF-C908-55C1F12E25D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74807416-7E3D-A64A-890B-2F999A9D754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DCA78D85-5F37-6423-44EE-7D9227BE0860}"/>
              </a:ext>
            </a:extLst>
          </p:cNvPr>
          <p:cNvSpPr>
            <a:spLocks noGrp="1"/>
          </p:cNvSpPr>
          <p:nvPr>
            <p:ph type="dt" sz="half" idx="10"/>
          </p:nvPr>
        </p:nvSpPr>
        <p:spPr/>
        <p:txBody>
          <a:bodyPr/>
          <a:lstStyle/>
          <a:p>
            <a:fld id="{FF8099EC-39E9-46C3-BEDD-2A124CE5D376}" type="datetimeFigureOut">
              <a:rPr lang="en-GB" smtClean="0"/>
              <a:t>09/03/2026</a:t>
            </a:fld>
            <a:endParaRPr lang="en-GB"/>
          </a:p>
        </p:txBody>
      </p:sp>
      <p:sp>
        <p:nvSpPr>
          <p:cNvPr id="5" name="Footer Placeholder 4">
            <a:extLst>
              <a:ext uri="{FF2B5EF4-FFF2-40B4-BE49-F238E27FC236}">
                <a16:creationId xmlns:a16="http://schemas.microsoft.com/office/drawing/2014/main" id="{A2C8DB31-11C1-60D7-765F-FDA7F5BEAC1A}"/>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CB4A40FD-6C89-B66B-BEF3-9F6A27EB5FCF}"/>
              </a:ext>
            </a:extLst>
          </p:cNvPr>
          <p:cNvSpPr>
            <a:spLocks noGrp="1"/>
          </p:cNvSpPr>
          <p:nvPr>
            <p:ph type="sldNum" sz="quarter" idx="12"/>
          </p:nvPr>
        </p:nvSpPr>
        <p:spPr/>
        <p:txBody>
          <a:bodyPr/>
          <a:lstStyle/>
          <a:p>
            <a:fld id="{271D1B04-D6E4-4628-90A0-99FFB29E041A}" type="slidenum">
              <a:rPr lang="en-GB" smtClean="0"/>
              <a:t>‹#›</a:t>
            </a:fld>
            <a:endParaRPr lang="en-GB"/>
          </a:p>
        </p:txBody>
      </p:sp>
    </p:spTree>
    <p:extLst>
      <p:ext uri="{BB962C8B-B14F-4D97-AF65-F5344CB8AC3E}">
        <p14:creationId xmlns:p14="http://schemas.microsoft.com/office/powerpoint/2010/main" val="3810434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EACBDB-9451-AC40-6484-7824D8C4AD2F}"/>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7A7E8BBA-8593-C407-C12A-825673B477E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875EAFF4-1A5E-5FB7-45D2-A142D44C0EBE}"/>
              </a:ext>
            </a:extLst>
          </p:cNvPr>
          <p:cNvSpPr>
            <a:spLocks noGrp="1"/>
          </p:cNvSpPr>
          <p:nvPr>
            <p:ph type="dt" sz="half" idx="10"/>
          </p:nvPr>
        </p:nvSpPr>
        <p:spPr/>
        <p:txBody>
          <a:bodyPr/>
          <a:lstStyle/>
          <a:p>
            <a:fld id="{FF8099EC-39E9-46C3-BEDD-2A124CE5D376}" type="datetimeFigureOut">
              <a:rPr lang="en-GB" smtClean="0"/>
              <a:t>18/03/2026</a:t>
            </a:fld>
            <a:endParaRPr lang="en-GB"/>
          </a:p>
        </p:txBody>
      </p:sp>
      <p:sp>
        <p:nvSpPr>
          <p:cNvPr id="5" name="Footer Placeholder 4">
            <a:extLst>
              <a:ext uri="{FF2B5EF4-FFF2-40B4-BE49-F238E27FC236}">
                <a16:creationId xmlns:a16="http://schemas.microsoft.com/office/drawing/2014/main" id="{5E645AF6-4D6C-F3E5-DDA4-47C3AB9A3729}"/>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82BC9AE-19AD-AF08-5CE4-10BA8891F02C}"/>
              </a:ext>
            </a:extLst>
          </p:cNvPr>
          <p:cNvSpPr>
            <a:spLocks noGrp="1"/>
          </p:cNvSpPr>
          <p:nvPr>
            <p:ph type="sldNum" sz="quarter" idx="12"/>
          </p:nvPr>
        </p:nvSpPr>
        <p:spPr/>
        <p:txBody>
          <a:bodyPr/>
          <a:lstStyle/>
          <a:p>
            <a:fld id="{271D1B04-D6E4-4628-90A0-99FFB29E041A}" type="slidenum">
              <a:rPr lang="en-GB" smtClean="0"/>
              <a:t>‹#›</a:t>
            </a:fld>
            <a:endParaRPr lang="en-GB"/>
          </a:p>
        </p:txBody>
      </p:sp>
    </p:spTree>
    <p:extLst>
      <p:ext uri="{BB962C8B-B14F-4D97-AF65-F5344CB8AC3E}">
        <p14:creationId xmlns:p14="http://schemas.microsoft.com/office/powerpoint/2010/main" val="8461882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0664BB-96A2-5E44-617C-3AE1E0BD756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3D1C3D5F-96CF-9AFD-754A-5DD1EEDFA03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C2547EB-2218-89FE-CD3B-0D13358D2572}"/>
              </a:ext>
            </a:extLst>
          </p:cNvPr>
          <p:cNvSpPr>
            <a:spLocks noGrp="1"/>
          </p:cNvSpPr>
          <p:nvPr>
            <p:ph type="dt" sz="half" idx="10"/>
          </p:nvPr>
        </p:nvSpPr>
        <p:spPr/>
        <p:txBody>
          <a:bodyPr/>
          <a:lstStyle/>
          <a:p>
            <a:fld id="{FF8099EC-39E9-46C3-BEDD-2A124CE5D376}" type="datetimeFigureOut">
              <a:rPr lang="en-GB" smtClean="0"/>
              <a:t>18/03/2026</a:t>
            </a:fld>
            <a:endParaRPr lang="en-GB"/>
          </a:p>
        </p:txBody>
      </p:sp>
      <p:sp>
        <p:nvSpPr>
          <p:cNvPr id="5" name="Footer Placeholder 4">
            <a:extLst>
              <a:ext uri="{FF2B5EF4-FFF2-40B4-BE49-F238E27FC236}">
                <a16:creationId xmlns:a16="http://schemas.microsoft.com/office/drawing/2014/main" id="{9C51BB56-BD67-52FA-37E2-09D3863E9958}"/>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0DFAEF93-E006-496B-FBC9-DED5B59BEE48}"/>
              </a:ext>
            </a:extLst>
          </p:cNvPr>
          <p:cNvSpPr>
            <a:spLocks noGrp="1"/>
          </p:cNvSpPr>
          <p:nvPr>
            <p:ph type="sldNum" sz="quarter" idx="12"/>
          </p:nvPr>
        </p:nvSpPr>
        <p:spPr/>
        <p:txBody>
          <a:bodyPr/>
          <a:lstStyle/>
          <a:p>
            <a:fld id="{271D1B04-D6E4-4628-90A0-99FFB29E041A}" type="slidenum">
              <a:rPr lang="en-GB" smtClean="0"/>
              <a:t>‹#›</a:t>
            </a:fld>
            <a:endParaRPr lang="en-GB"/>
          </a:p>
        </p:txBody>
      </p:sp>
    </p:spTree>
    <p:extLst>
      <p:ext uri="{BB962C8B-B14F-4D97-AF65-F5344CB8AC3E}">
        <p14:creationId xmlns:p14="http://schemas.microsoft.com/office/powerpoint/2010/main" val="6833804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D03EB9-719A-B41D-1D03-7D803337834D}"/>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A03EBB85-6C88-DA60-745E-DEA8BCC7157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1D5933BB-F0E6-76E9-E05D-4E86F19005D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1F250893-193B-CF84-19EB-BDEB6282CF68}"/>
              </a:ext>
            </a:extLst>
          </p:cNvPr>
          <p:cNvSpPr>
            <a:spLocks noGrp="1"/>
          </p:cNvSpPr>
          <p:nvPr>
            <p:ph type="dt" sz="half" idx="10"/>
          </p:nvPr>
        </p:nvSpPr>
        <p:spPr/>
        <p:txBody>
          <a:bodyPr/>
          <a:lstStyle/>
          <a:p>
            <a:fld id="{FF8099EC-39E9-46C3-BEDD-2A124CE5D376}" type="datetimeFigureOut">
              <a:rPr lang="en-GB" smtClean="0"/>
              <a:t>18/03/2026</a:t>
            </a:fld>
            <a:endParaRPr lang="en-GB"/>
          </a:p>
        </p:txBody>
      </p:sp>
      <p:sp>
        <p:nvSpPr>
          <p:cNvPr id="6" name="Footer Placeholder 5">
            <a:extLst>
              <a:ext uri="{FF2B5EF4-FFF2-40B4-BE49-F238E27FC236}">
                <a16:creationId xmlns:a16="http://schemas.microsoft.com/office/drawing/2014/main" id="{3D8BF815-6797-CE6F-0389-C18DD452F6E3}"/>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8597E48C-C06D-18B9-2484-8C16234C3B6E}"/>
              </a:ext>
            </a:extLst>
          </p:cNvPr>
          <p:cNvSpPr>
            <a:spLocks noGrp="1"/>
          </p:cNvSpPr>
          <p:nvPr>
            <p:ph type="sldNum" sz="quarter" idx="12"/>
          </p:nvPr>
        </p:nvSpPr>
        <p:spPr/>
        <p:txBody>
          <a:bodyPr/>
          <a:lstStyle/>
          <a:p>
            <a:fld id="{271D1B04-D6E4-4628-90A0-99FFB29E041A}" type="slidenum">
              <a:rPr lang="en-GB" smtClean="0"/>
              <a:t>‹#›</a:t>
            </a:fld>
            <a:endParaRPr lang="en-GB"/>
          </a:p>
        </p:txBody>
      </p:sp>
    </p:spTree>
    <p:extLst>
      <p:ext uri="{BB962C8B-B14F-4D97-AF65-F5344CB8AC3E}">
        <p14:creationId xmlns:p14="http://schemas.microsoft.com/office/powerpoint/2010/main" val="29084298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02E9B5-3E34-D6D4-BCE5-73CEA83D8C8A}"/>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0D1F3FFD-BEED-245E-1C55-D0325D1476D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61B1A9B-7E96-1AB8-339C-D2B24C46A28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19D9A1F3-357B-D7F9-6AC4-45DFA641768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5675FD2-33D2-BD19-744C-1C9082B2F29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3C4FD180-F29B-757B-265E-43AAADC3E351}"/>
              </a:ext>
            </a:extLst>
          </p:cNvPr>
          <p:cNvSpPr>
            <a:spLocks noGrp="1"/>
          </p:cNvSpPr>
          <p:nvPr>
            <p:ph type="dt" sz="half" idx="10"/>
          </p:nvPr>
        </p:nvSpPr>
        <p:spPr/>
        <p:txBody>
          <a:bodyPr/>
          <a:lstStyle/>
          <a:p>
            <a:fld id="{FF8099EC-39E9-46C3-BEDD-2A124CE5D376}" type="datetimeFigureOut">
              <a:rPr lang="en-GB" smtClean="0"/>
              <a:t>18/03/2026</a:t>
            </a:fld>
            <a:endParaRPr lang="en-GB"/>
          </a:p>
        </p:txBody>
      </p:sp>
      <p:sp>
        <p:nvSpPr>
          <p:cNvPr id="8" name="Footer Placeholder 7">
            <a:extLst>
              <a:ext uri="{FF2B5EF4-FFF2-40B4-BE49-F238E27FC236}">
                <a16:creationId xmlns:a16="http://schemas.microsoft.com/office/drawing/2014/main" id="{4DF81862-BF71-3FD7-7819-77732386EE97}"/>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AA20EC87-47B6-FB80-2C82-38D14EAB9FB4}"/>
              </a:ext>
            </a:extLst>
          </p:cNvPr>
          <p:cNvSpPr>
            <a:spLocks noGrp="1"/>
          </p:cNvSpPr>
          <p:nvPr>
            <p:ph type="sldNum" sz="quarter" idx="12"/>
          </p:nvPr>
        </p:nvSpPr>
        <p:spPr/>
        <p:txBody>
          <a:bodyPr/>
          <a:lstStyle/>
          <a:p>
            <a:fld id="{271D1B04-D6E4-4628-90A0-99FFB29E041A}" type="slidenum">
              <a:rPr lang="en-GB" smtClean="0"/>
              <a:t>‹#›</a:t>
            </a:fld>
            <a:endParaRPr lang="en-GB"/>
          </a:p>
        </p:txBody>
      </p:sp>
    </p:spTree>
    <p:extLst>
      <p:ext uri="{BB962C8B-B14F-4D97-AF65-F5344CB8AC3E}">
        <p14:creationId xmlns:p14="http://schemas.microsoft.com/office/powerpoint/2010/main" val="3769724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572DAD-85C4-943D-255A-CBAD8B084FA4}"/>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9BD1EF91-2EBF-DE94-D9F8-FDF948FC77A5}"/>
              </a:ext>
            </a:extLst>
          </p:cNvPr>
          <p:cNvSpPr>
            <a:spLocks noGrp="1"/>
          </p:cNvSpPr>
          <p:nvPr>
            <p:ph type="dt" sz="half" idx="10"/>
          </p:nvPr>
        </p:nvSpPr>
        <p:spPr/>
        <p:txBody>
          <a:bodyPr/>
          <a:lstStyle/>
          <a:p>
            <a:fld id="{FF8099EC-39E9-46C3-BEDD-2A124CE5D376}" type="datetimeFigureOut">
              <a:rPr lang="en-GB" smtClean="0"/>
              <a:t>18/03/2026</a:t>
            </a:fld>
            <a:endParaRPr lang="en-GB"/>
          </a:p>
        </p:txBody>
      </p:sp>
      <p:sp>
        <p:nvSpPr>
          <p:cNvPr id="4" name="Footer Placeholder 3">
            <a:extLst>
              <a:ext uri="{FF2B5EF4-FFF2-40B4-BE49-F238E27FC236}">
                <a16:creationId xmlns:a16="http://schemas.microsoft.com/office/drawing/2014/main" id="{34E9181D-EA74-188A-6DDF-CD7C38BD9A41}"/>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B998FCCF-348D-75B6-609B-4CE343886856}"/>
              </a:ext>
            </a:extLst>
          </p:cNvPr>
          <p:cNvSpPr>
            <a:spLocks noGrp="1"/>
          </p:cNvSpPr>
          <p:nvPr>
            <p:ph type="sldNum" sz="quarter" idx="12"/>
          </p:nvPr>
        </p:nvSpPr>
        <p:spPr/>
        <p:txBody>
          <a:bodyPr/>
          <a:lstStyle/>
          <a:p>
            <a:fld id="{271D1B04-D6E4-4628-90A0-99FFB29E041A}" type="slidenum">
              <a:rPr lang="en-GB" smtClean="0"/>
              <a:t>‹#›</a:t>
            </a:fld>
            <a:endParaRPr lang="en-GB"/>
          </a:p>
        </p:txBody>
      </p:sp>
    </p:spTree>
    <p:extLst>
      <p:ext uri="{BB962C8B-B14F-4D97-AF65-F5344CB8AC3E}">
        <p14:creationId xmlns:p14="http://schemas.microsoft.com/office/powerpoint/2010/main" val="18248403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BBEBC4C-DE0B-0CC0-A920-DC1813C849EA}"/>
              </a:ext>
            </a:extLst>
          </p:cNvPr>
          <p:cNvSpPr>
            <a:spLocks noGrp="1"/>
          </p:cNvSpPr>
          <p:nvPr>
            <p:ph type="dt" sz="half" idx="10"/>
          </p:nvPr>
        </p:nvSpPr>
        <p:spPr/>
        <p:txBody>
          <a:bodyPr/>
          <a:lstStyle/>
          <a:p>
            <a:fld id="{FF8099EC-39E9-46C3-BEDD-2A124CE5D376}" type="datetimeFigureOut">
              <a:rPr lang="en-GB" smtClean="0"/>
              <a:t>18/03/2026</a:t>
            </a:fld>
            <a:endParaRPr lang="en-GB"/>
          </a:p>
        </p:txBody>
      </p:sp>
      <p:sp>
        <p:nvSpPr>
          <p:cNvPr id="3" name="Footer Placeholder 2">
            <a:extLst>
              <a:ext uri="{FF2B5EF4-FFF2-40B4-BE49-F238E27FC236}">
                <a16:creationId xmlns:a16="http://schemas.microsoft.com/office/drawing/2014/main" id="{DF0C3CFB-D889-511F-0495-FF2E72008F5D}"/>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FF12795C-0A3C-6964-7219-948394A15E45}"/>
              </a:ext>
            </a:extLst>
          </p:cNvPr>
          <p:cNvSpPr>
            <a:spLocks noGrp="1"/>
          </p:cNvSpPr>
          <p:nvPr>
            <p:ph type="sldNum" sz="quarter" idx="12"/>
          </p:nvPr>
        </p:nvSpPr>
        <p:spPr/>
        <p:txBody>
          <a:bodyPr/>
          <a:lstStyle/>
          <a:p>
            <a:fld id="{271D1B04-D6E4-4628-90A0-99FFB29E041A}" type="slidenum">
              <a:rPr lang="en-GB" smtClean="0"/>
              <a:t>‹#›</a:t>
            </a:fld>
            <a:endParaRPr lang="en-GB"/>
          </a:p>
        </p:txBody>
      </p:sp>
    </p:spTree>
    <p:extLst>
      <p:ext uri="{BB962C8B-B14F-4D97-AF65-F5344CB8AC3E}">
        <p14:creationId xmlns:p14="http://schemas.microsoft.com/office/powerpoint/2010/main" val="1551686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491FC9-67E1-7A2C-F0D5-7338F0F60C6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BF57BB6B-C516-E0D7-F86B-64789DF4621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64A2B65A-AAA6-1573-5EB2-B2009CECB1E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9B5DF17-4104-ECCE-70D4-AE18F18431FA}"/>
              </a:ext>
            </a:extLst>
          </p:cNvPr>
          <p:cNvSpPr>
            <a:spLocks noGrp="1"/>
          </p:cNvSpPr>
          <p:nvPr>
            <p:ph type="dt" sz="half" idx="10"/>
          </p:nvPr>
        </p:nvSpPr>
        <p:spPr/>
        <p:txBody>
          <a:bodyPr/>
          <a:lstStyle/>
          <a:p>
            <a:fld id="{FF8099EC-39E9-46C3-BEDD-2A124CE5D376}" type="datetimeFigureOut">
              <a:rPr lang="en-GB" smtClean="0"/>
              <a:t>18/03/2026</a:t>
            </a:fld>
            <a:endParaRPr lang="en-GB"/>
          </a:p>
        </p:txBody>
      </p:sp>
      <p:sp>
        <p:nvSpPr>
          <p:cNvPr id="6" name="Footer Placeholder 5">
            <a:extLst>
              <a:ext uri="{FF2B5EF4-FFF2-40B4-BE49-F238E27FC236}">
                <a16:creationId xmlns:a16="http://schemas.microsoft.com/office/drawing/2014/main" id="{72B8AFD0-FE4A-1F3A-48C1-DDCC9885D180}"/>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3BE4B028-6841-4D1A-E80E-AA73179C8097}"/>
              </a:ext>
            </a:extLst>
          </p:cNvPr>
          <p:cNvSpPr>
            <a:spLocks noGrp="1"/>
          </p:cNvSpPr>
          <p:nvPr>
            <p:ph type="sldNum" sz="quarter" idx="12"/>
          </p:nvPr>
        </p:nvSpPr>
        <p:spPr/>
        <p:txBody>
          <a:bodyPr/>
          <a:lstStyle/>
          <a:p>
            <a:fld id="{271D1B04-D6E4-4628-90A0-99FFB29E041A}" type="slidenum">
              <a:rPr lang="en-GB" smtClean="0"/>
              <a:t>‹#›</a:t>
            </a:fld>
            <a:endParaRPr lang="en-GB"/>
          </a:p>
        </p:txBody>
      </p:sp>
    </p:spTree>
    <p:extLst>
      <p:ext uri="{BB962C8B-B14F-4D97-AF65-F5344CB8AC3E}">
        <p14:creationId xmlns:p14="http://schemas.microsoft.com/office/powerpoint/2010/main" val="35269650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042377-2261-DD8F-6A79-284F2EF3C2A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F7ACD2C5-2A07-760D-126D-4AB856EA87D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9A312429-1B16-B717-45CE-EEB96A42E81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352DAA5-CAE9-2426-B1CF-814CD8F00542}"/>
              </a:ext>
            </a:extLst>
          </p:cNvPr>
          <p:cNvSpPr>
            <a:spLocks noGrp="1"/>
          </p:cNvSpPr>
          <p:nvPr>
            <p:ph type="dt" sz="half" idx="10"/>
          </p:nvPr>
        </p:nvSpPr>
        <p:spPr/>
        <p:txBody>
          <a:bodyPr/>
          <a:lstStyle/>
          <a:p>
            <a:fld id="{FF8099EC-39E9-46C3-BEDD-2A124CE5D376}" type="datetimeFigureOut">
              <a:rPr lang="en-GB" smtClean="0"/>
              <a:t>18/03/2026</a:t>
            </a:fld>
            <a:endParaRPr lang="en-GB"/>
          </a:p>
        </p:txBody>
      </p:sp>
      <p:sp>
        <p:nvSpPr>
          <p:cNvPr id="6" name="Footer Placeholder 5">
            <a:extLst>
              <a:ext uri="{FF2B5EF4-FFF2-40B4-BE49-F238E27FC236}">
                <a16:creationId xmlns:a16="http://schemas.microsoft.com/office/drawing/2014/main" id="{9CE2B5AF-D8CE-930E-550B-D7CDF851670E}"/>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2DA67389-9F9B-32A5-457F-C923ADC8DEE5}"/>
              </a:ext>
            </a:extLst>
          </p:cNvPr>
          <p:cNvSpPr>
            <a:spLocks noGrp="1"/>
          </p:cNvSpPr>
          <p:nvPr>
            <p:ph type="sldNum" sz="quarter" idx="12"/>
          </p:nvPr>
        </p:nvSpPr>
        <p:spPr/>
        <p:txBody>
          <a:bodyPr/>
          <a:lstStyle/>
          <a:p>
            <a:fld id="{271D1B04-D6E4-4628-90A0-99FFB29E041A}" type="slidenum">
              <a:rPr lang="en-GB" smtClean="0"/>
              <a:t>‹#›</a:t>
            </a:fld>
            <a:endParaRPr lang="en-GB"/>
          </a:p>
        </p:txBody>
      </p:sp>
    </p:spTree>
    <p:extLst>
      <p:ext uri="{BB962C8B-B14F-4D97-AF65-F5344CB8AC3E}">
        <p14:creationId xmlns:p14="http://schemas.microsoft.com/office/powerpoint/2010/main" val="34613837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45EB34-8BEE-0B3F-6263-D02AB2237A11}"/>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373F3F0C-52AA-7AE4-0924-95F25BBFD71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7B90C02B-B397-74AE-F580-F43A190F44EE}"/>
              </a:ext>
            </a:extLst>
          </p:cNvPr>
          <p:cNvSpPr>
            <a:spLocks noGrp="1"/>
          </p:cNvSpPr>
          <p:nvPr>
            <p:ph type="dt" sz="half" idx="10"/>
          </p:nvPr>
        </p:nvSpPr>
        <p:spPr/>
        <p:txBody>
          <a:bodyPr/>
          <a:lstStyle/>
          <a:p>
            <a:fld id="{FF8099EC-39E9-46C3-BEDD-2A124CE5D376}" type="datetimeFigureOut">
              <a:rPr lang="en-GB" smtClean="0"/>
              <a:t>18/03/2026</a:t>
            </a:fld>
            <a:endParaRPr lang="en-GB"/>
          </a:p>
        </p:txBody>
      </p:sp>
      <p:sp>
        <p:nvSpPr>
          <p:cNvPr id="5" name="Footer Placeholder 4">
            <a:extLst>
              <a:ext uri="{FF2B5EF4-FFF2-40B4-BE49-F238E27FC236}">
                <a16:creationId xmlns:a16="http://schemas.microsoft.com/office/drawing/2014/main" id="{BAA2DB75-5E4C-94BC-1D58-2DCE823A90F2}"/>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D05174E4-7524-75A7-6935-55A1305D5E27}"/>
              </a:ext>
            </a:extLst>
          </p:cNvPr>
          <p:cNvSpPr>
            <a:spLocks noGrp="1"/>
          </p:cNvSpPr>
          <p:nvPr>
            <p:ph type="sldNum" sz="quarter" idx="12"/>
          </p:nvPr>
        </p:nvSpPr>
        <p:spPr/>
        <p:txBody>
          <a:bodyPr/>
          <a:lstStyle/>
          <a:p>
            <a:fld id="{271D1B04-D6E4-4628-90A0-99FFB29E041A}" type="slidenum">
              <a:rPr lang="en-GB" smtClean="0"/>
              <a:t>‹#›</a:t>
            </a:fld>
            <a:endParaRPr lang="en-GB"/>
          </a:p>
        </p:txBody>
      </p:sp>
    </p:spTree>
    <p:extLst>
      <p:ext uri="{BB962C8B-B14F-4D97-AF65-F5344CB8AC3E}">
        <p14:creationId xmlns:p14="http://schemas.microsoft.com/office/powerpoint/2010/main" val="31652256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5554F7F-84E9-2959-900B-BA2213AC339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9BDFB6E2-5E9C-7594-FC35-970B5D2CD50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D29374A0-F29D-3F7C-995D-DF162AEA8EFA}"/>
              </a:ext>
            </a:extLst>
          </p:cNvPr>
          <p:cNvSpPr>
            <a:spLocks noGrp="1"/>
          </p:cNvSpPr>
          <p:nvPr>
            <p:ph type="dt" sz="half" idx="10"/>
          </p:nvPr>
        </p:nvSpPr>
        <p:spPr/>
        <p:txBody>
          <a:bodyPr/>
          <a:lstStyle/>
          <a:p>
            <a:fld id="{FF8099EC-39E9-46C3-BEDD-2A124CE5D376}" type="datetimeFigureOut">
              <a:rPr lang="en-GB" smtClean="0"/>
              <a:t>18/03/2026</a:t>
            </a:fld>
            <a:endParaRPr lang="en-GB"/>
          </a:p>
        </p:txBody>
      </p:sp>
      <p:sp>
        <p:nvSpPr>
          <p:cNvPr id="5" name="Footer Placeholder 4">
            <a:extLst>
              <a:ext uri="{FF2B5EF4-FFF2-40B4-BE49-F238E27FC236}">
                <a16:creationId xmlns:a16="http://schemas.microsoft.com/office/drawing/2014/main" id="{7E25FB92-3CD8-2F1F-7CAB-4924CC957C30}"/>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477E01D6-7F1F-1140-57F5-FB8A1B01D06E}"/>
              </a:ext>
            </a:extLst>
          </p:cNvPr>
          <p:cNvSpPr>
            <a:spLocks noGrp="1"/>
          </p:cNvSpPr>
          <p:nvPr>
            <p:ph type="sldNum" sz="quarter" idx="12"/>
          </p:nvPr>
        </p:nvSpPr>
        <p:spPr/>
        <p:txBody>
          <a:bodyPr/>
          <a:lstStyle/>
          <a:p>
            <a:fld id="{271D1B04-D6E4-4628-90A0-99FFB29E041A}" type="slidenum">
              <a:rPr lang="en-GB" smtClean="0"/>
              <a:t>‹#›</a:t>
            </a:fld>
            <a:endParaRPr lang="en-GB"/>
          </a:p>
        </p:txBody>
      </p:sp>
    </p:spTree>
    <p:extLst>
      <p:ext uri="{BB962C8B-B14F-4D97-AF65-F5344CB8AC3E}">
        <p14:creationId xmlns:p14="http://schemas.microsoft.com/office/powerpoint/2010/main" val="39543667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60ECA81-1122-AB53-DF44-D045DDBF727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8FD9CA76-494B-F200-F307-C35DA040AB4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26FC1865-2D8D-FDEE-CC39-C7A61109A84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F8099EC-39E9-46C3-BEDD-2A124CE5D376}" type="datetimeFigureOut">
              <a:rPr lang="en-GB" smtClean="0"/>
              <a:t>09/03/2026</a:t>
            </a:fld>
            <a:endParaRPr lang="en-GB"/>
          </a:p>
        </p:txBody>
      </p:sp>
      <p:sp>
        <p:nvSpPr>
          <p:cNvPr id="5" name="Footer Placeholder 4">
            <a:extLst>
              <a:ext uri="{FF2B5EF4-FFF2-40B4-BE49-F238E27FC236}">
                <a16:creationId xmlns:a16="http://schemas.microsoft.com/office/drawing/2014/main" id="{0BC655CC-AA67-8090-9F58-09BBEBEF5F5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877DCF62-2E72-BB5D-3A74-615FBDF2F97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71D1B04-D6E4-4628-90A0-99FFB29E041A}" type="slidenum">
              <a:rPr lang="en-GB" smtClean="0"/>
              <a:t>‹#›</a:t>
            </a:fld>
            <a:endParaRPr lang="en-GB"/>
          </a:p>
        </p:txBody>
      </p:sp>
    </p:spTree>
    <p:extLst>
      <p:ext uri="{BB962C8B-B14F-4D97-AF65-F5344CB8AC3E}">
        <p14:creationId xmlns:p14="http://schemas.microsoft.com/office/powerpoint/2010/main" val="134729809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hyperlink" Target="mailto:Michiel@4D-Engineers.com" TargetMode="External"/><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hyperlink" Target="mailto:michiel@4D-Engineers.com" TargetMode="External"/><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A244F4-5781-4469-096B-6842C6F7784E}"/>
            </a:ext>
          </a:extLst>
        </p:cNvPr>
        <p:cNvGrpSpPr/>
        <p:nvPr/>
      </p:nvGrpSpPr>
      <p:grpSpPr>
        <a:xfrm>
          <a:off x="0" y="0"/>
          <a:ext cx="0" cy="0"/>
          <a:chOff x="0" y="0"/>
          <a:chExt cx="0" cy="0"/>
        </a:xfrm>
      </p:grpSpPr>
      <p:sp>
        <p:nvSpPr>
          <p:cNvPr id="5" name="TextBox 2">
            <a:extLst>
              <a:ext uri="{FF2B5EF4-FFF2-40B4-BE49-F238E27FC236}">
                <a16:creationId xmlns:a16="http://schemas.microsoft.com/office/drawing/2014/main" id="{025D7229-6F12-DB7C-8E23-D1D75B22FB1A}"/>
              </a:ext>
            </a:extLst>
          </p:cNvPr>
          <p:cNvSpPr txBox="1"/>
          <p:nvPr/>
        </p:nvSpPr>
        <p:spPr>
          <a:xfrm>
            <a:off x="4664062" y="4831392"/>
            <a:ext cx="2873031" cy="461665"/>
          </a:xfrm>
          <a:prstGeom prst="rect">
            <a:avLst/>
          </a:prstGeom>
          <a:noFill/>
        </p:spPr>
        <p:txBody>
          <a:bodyPr wrap="none" rtlCol="0">
            <a:spAutoFit/>
          </a:bodyPr>
          <a:lstStyle/>
          <a:p>
            <a:pPr algn="ctr"/>
            <a:r>
              <a:rPr lang="nl-NL" sz="2400" dirty="0">
                <a:latin typeface="Candara" panose="020E0502030303020204" pitchFamily="34" charset="0"/>
              </a:rPr>
              <a:t>Michiel Wanninkhof</a:t>
            </a:r>
            <a:endParaRPr lang="nl-NL" sz="1600" dirty="0">
              <a:latin typeface="Candara" panose="020E0502030303020204" pitchFamily="34" charset="0"/>
            </a:endParaRPr>
          </a:p>
        </p:txBody>
      </p:sp>
      <p:sp>
        <p:nvSpPr>
          <p:cNvPr id="8" name="TextBox 2">
            <a:extLst>
              <a:ext uri="{FF2B5EF4-FFF2-40B4-BE49-F238E27FC236}">
                <a16:creationId xmlns:a16="http://schemas.microsoft.com/office/drawing/2014/main" id="{6A3803E5-CC49-1A62-2D3B-58B8082CFE28}"/>
              </a:ext>
            </a:extLst>
          </p:cNvPr>
          <p:cNvSpPr txBox="1"/>
          <p:nvPr/>
        </p:nvSpPr>
        <p:spPr>
          <a:xfrm>
            <a:off x="4660728" y="2917821"/>
            <a:ext cx="2876365" cy="1015663"/>
          </a:xfrm>
          <a:prstGeom prst="rect">
            <a:avLst/>
          </a:prstGeom>
          <a:noFill/>
        </p:spPr>
        <p:txBody>
          <a:bodyPr wrap="none" rtlCol="0">
            <a:spAutoFit/>
          </a:bodyPr>
          <a:lstStyle/>
          <a:p>
            <a:r>
              <a:rPr lang="nl-NL" sz="6000" b="1" dirty="0">
                <a:latin typeface="Candara" panose="020E0502030303020204" pitchFamily="34" charset="0"/>
              </a:rPr>
              <a:t>Website</a:t>
            </a:r>
          </a:p>
        </p:txBody>
      </p:sp>
      <p:sp>
        <p:nvSpPr>
          <p:cNvPr id="14" name="TextBox 13">
            <a:extLst>
              <a:ext uri="{FF2B5EF4-FFF2-40B4-BE49-F238E27FC236}">
                <a16:creationId xmlns:a16="http://schemas.microsoft.com/office/drawing/2014/main" id="{E102D679-1B94-BA26-F516-B93A71E82686}"/>
              </a:ext>
            </a:extLst>
          </p:cNvPr>
          <p:cNvSpPr txBox="1"/>
          <p:nvPr/>
        </p:nvSpPr>
        <p:spPr>
          <a:xfrm>
            <a:off x="5348040" y="5276266"/>
            <a:ext cx="1495922" cy="369332"/>
          </a:xfrm>
          <a:prstGeom prst="rect">
            <a:avLst/>
          </a:prstGeom>
          <a:noFill/>
        </p:spPr>
        <p:txBody>
          <a:bodyPr wrap="none" rtlCol="0">
            <a:spAutoFit/>
          </a:bodyPr>
          <a:lstStyle/>
          <a:p>
            <a:pPr algn="ctr"/>
            <a:r>
              <a:rPr lang="nl-NL" b="1" dirty="0">
                <a:latin typeface="Candara" panose="020E0502030303020204" pitchFamily="34" charset="0"/>
              </a:rPr>
              <a:t>4D-Engineers</a:t>
            </a:r>
          </a:p>
        </p:txBody>
      </p:sp>
      <p:pic>
        <p:nvPicPr>
          <p:cNvPr id="3" name="Picture 2">
            <a:extLst>
              <a:ext uri="{FF2B5EF4-FFF2-40B4-BE49-F238E27FC236}">
                <a16:creationId xmlns:a16="http://schemas.microsoft.com/office/drawing/2014/main" id="{502D4406-2FFF-D1AE-4C02-8216E173AA2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53443" y="776094"/>
            <a:ext cx="1085088" cy="841248"/>
          </a:xfrm>
          <a:prstGeom prst="rect">
            <a:avLst/>
          </a:prstGeom>
        </p:spPr>
      </p:pic>
    </p:spTree>
    <p:extLst>
      <p:ext uri="{BB962C8B-B14F-4D97-AF65-F5344CB8AC3E}">
        <p14:creationId xmlns:p14="http://schemas.microsoft.com/office/powerpoint/2010/main" val="32234026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A244F4-5781-4469-096B-6842C6F7784E}"/>
            </a:ext>
          </a:extLst>
        </p:cNvPr>
        <p:cNvGrpSpPr/>
        <p:nvPr/>
      </p:nvGrpSpPr>
      <p:grpSpPr>
        <a:xfrm>
          <a:off x="0" y="0"/>
          <a:ext cx="0" cy="0"/>
          <a:chOff x="0" y="0"/>
          <a:chExt cx="0" cy="0"/>
        </a:xfrm>
      </p:grpSpPr>
      <p:sp>
        <p:nvSpPr>
          <p:cNvPr id="8" name="TextBox 2">
            <a:extLst>
              <a:ext uri="{FF2B5EF4-FFF2-40B4-BE49-F238E27FC236}">
                <a16:creationId xmlns:a16="http://schemas.microsoft.com/office/drawing/2014/main" id="{1CDA4A6A-1C3F-FCFC-ED91-3DBCE10B6B87}"/>
              </a:ext>
            </a:extLst>
          </p:cNvPr>
          <p:cNvSpPr txBox="1"/>
          <p:nvPr/>
        </p:nvSpPr>
        <p:spPr>
          <a:xfrm>
            <a:off x="5626769" y="6428877"/>
            <a:ext cx="938462" cy="276999"/>
          </a:xfrm>
          <a:prstGeom prst="rect">
            <a:avLst/>
          </a:prstGeom>
          <a:noFill/>
        </p:spPr>
        <p:txBody>
          <a:bodyPr wrap="none" rtlCol="0">
            <a:spAutoFit/>
          </a:bodyPr>
          <a:lstStyle/>
          <a:p>
            <a:r>
              <a:rPr lang="nl-NL" sz="1200" b="1" dirty="0">
                <a:latin typeface="Candara" panose="020E0502030303020204" pitchFamily="34" charset="0"/>
              </a:rPr>
              <a:t>4D Website</a:t>
            </a:r>
          </a:p>
        </p:txBody>
      </p:sp>
      <p:pic>
        <p:nvPicPr>
          <p:cNvPr id="6" name="Picture 5">
            <a:extLst>
              <a:ext uri="{FF2B5EF4-FFF2-40B4-BE49-F238E27FC236}">
                <a16:creationId xmlns:a16="http://schemas.microsoft.com/office/drawing/2014/main" id="{CF2E45FA-B57C-A7BD-59E5-681D049BF71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76169" y="174857"/>
            <a:ext cx="439662" cy="340862"/>
          </a:xfrm>
          <a:prstGeom prst="rect">
            <a:avLst/>
          </a:prstGeom>
        </p:spPr>
      </p:pic>
      <p:sp>
        <p:nvSpPr>
          <p:cNvPr id="2" name="TextBox 1">
            <a:extLst>
              <a:ext uri="{FF2B5EF4-FFF2-40B4-BE49-F238E27FC236}">
                <a16:creationId xmlns:a16="http://schemas.microsoft.com/office/drawing/2014/main" id="{F62326C4-03F8-CCD6-966C-935170305DC3}"/>
              </a:ext>
            </a:extLst>
          </p:cNvPr>
          <p:cNvSpPr txBox="1"/>
          <p:nvPr/>
        </p:nvSpPr>
        <p:spPr>
          <a:xfrm>
            <a:off x="4125845" y="1671804"/>
            <a:ext cx="3940309" cy="1200329"/>
          </a:xfrm>
          <a:prstGeom prst="rect">
            <a:avLst/>
          </a:prstGeom>
          <a:noFill/>
        </p:spPr>
        <p:txBody>
          <a:bodyPr wrap="none" rtlCol="0">
            <a:spAutoFit/>
          </a:bodyPr>
          <a:lstStyle/>
          <a:p>
            <a:r>
              <a:rPr lang="nl-NL" dirty="0"/>
              <a:t>Mensen (Wie zijn wij)</a:t>
            </a:r>
          </a:p>
          <a:p>
            <a:r>
              <a:rPr lang="nl-NL" dirty="0"/>
              <a:t>Methode (Wat doen wij anders)</a:t>
            </a:r>
          </a:p>
          <a:p>
            <a:r>
              <a:rPr lang="nl-NL" dirty="0"/>
              <a:t>Projecten (Onze ervaringen)</a:t>
            </a:r>
          </a:p>
          <a:p>
            <a:r>
              <a:rPr lang="nl-NL" dirty="0"/>
              <a:t>Referenties (Wat zeggen onze klanten)</a:t>
            </a:r>
          </a:p>
        </p:txBody>
      </p:sp>
    </p:spTree>
    <p:extLst>
      <p:ext uri="{BB962C8B-B14F-4D97-AF65-F5344CB8AC3E}">
        <p14:creationId xmlns:p14="http://schemas.microsoft.com/office/powerpoint/2010/main" val="23819735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A244F4-5781-4469-096B-6842C6F7784E}"/>
            </a:ext>
          </a:extLst>
        </p:cNvPr>
        <p:cNvGrpSpPr/>
        <p:nvPr/>
      </p:nvGrpSpPr>
      <p:grpSpPr>
        <a:xfrm>
          <a:off x="0" y="0"/>
          <a:ext cx="0" cy="0"/>
          <a:chOff x="0" y="0"/>
          <a:chExt cx="0" cy="0"/>
        </a:xfrm>
      </p:grpSpPr>
      <p:sp>
        <p:nvSpPr>
          <p:cNvPr id="8" name="TextBox 2">
            <a:extLst>
              <a:ext uri="{FF2B5EF4-FFF2-40B4-BE49-F238E27FC236}">
                <a16:creationId xmlns:a16="http://schemas.microsoft.com/office/drawing/2014/main" id="{1CDA4A6A-1C3F-FCFC-ED91-3DBCE10B6B87}"/>
              </a:ext>
            </a:extLst>
          </p:cNvPr>
          <p:cNvSpPr txBox="1"/>
          <p:nvPr/>
        </p:nvSpPr>
        <p:spPr>
          <a:xfrm>
            <a:off x="5626769" y="6428877"/>
            <a:ext cx="938462" cy="276999"/>
          </a:xfrm>
          <a:prstGeom prst="rect">
            <a:avLst/>
          </a:prstGeom>
          <a:noFill/>
        </p:spPr>
        <p:txBody>
          <a:bodyPr wrap="none" rtlCol="0">
            <a:spAutoFit/>
          </a:bodyPr>
          <a:lstStyle/>
          <a:p>
            <a:r>
              <a:rPr lang="nl-NL" sz="1200" b="1" dirty="0">
                <a:latin typeface="Candara" panose="020E0502030303020204" pitchFamily="34" charset="0"/>
              </a:rPr>
              <a:t>4D Website</a:t>
            </a:r>
          </a:p>
        </p:txBody>
      </p:sp>
      <p:pic>
        <p:nvPicPr>
          <p:cNvPr id="6" name="Picture 5">
            <a:extLst>
              <a:ext uri="{FF2B5EF4-FFF2-40B4-BE49-F238E27FC236}">
                <a16:creationId xmlns:a16="http://schemas.microsoft.com/office/drawing/2014/main" id="{CF2E45FA-B57C-A7BD-59E5-681D049BF71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76169" y="174857"/>
            <a:ext cx="439662" cy="340862"/>
          </a:xfrm>
          <a:prstGeom prst="rect">
            <a:avLst/>
          </a:prstGeom>
        </p:spPr>
      </p:pic>
      <p:sp>
        <p:nvSpPr>
          <p:cNvPr id="2" name="TextBox 1">
            <a:extLst>
              <a:ext uri="{FF2B5EF4-FFF2-40B4-BE49-F238E27FC236}">
                <a16:creationId xmlns:a16="http://schemas.microsoft.com/office/drawing/2014/main" id="{F62326C4-03F8-CCD6-966C-935170305DC3}"/>
              </a:ext>
            </a:extLst>
          </p:cNvPr>
          <p:cNvSpPr txBox="1"/>
          <p:nvPr/>
        </p:nvSpPr>
        <p:spPr>
          <a:xfrm>
            <a:off x="4600077" y="934751"/>
            <a:ext cx="2991846" cy="923330"/>
          </a:xfrm>
          <a:prstGeom prst="rect">
            <a:avLst/>
          </a:prstGeom>
          <a:noFill/>
        </p:spPr>
        <p:txBody>
          <a:bodyPr wrap="none" rtlCol="0">
            <a:spAutoFit/>
          </a:bodyPr>
          <a:lstStyle/>
          <a:p>
            <a:pPr algn="ctr"/>
            <a:r>
              <a:rPr lang="nl-NL" sz="3600" b="1" dirty="0"/>
              <a:t>4D-Engineers</a:t>
            </a:r>
          </a:p>
          <a:p>
            <a:pPr algn="ctr"/>
            <a:r>
              <a:rPr lang="nl-NL" dirty="0"/>
              <a:t>Consultancy &amp; Engineering</a:t>
            </a:r>
          </a:p>
        </p:txBody>
      </p:sp>
      <p:sp>
        <p:nvSpPr>
          <p:cNvPr id="4" name="TextBox 3">
            <a:extLst>
              <a:ext uri="{FF2B5EF4-FFF2-40B4-BE49-F238E27FC236}">
                <a16:creationId xmlns:a16="http://schemas.microsoft.com/office/drawing/2014/main" id="{D7A1589D-4957-B798-1977-4F6456B83F2E}"/>
              </a:ext>
            </a:extLst>
          </p:cNvPr>
          <p:cNvSpPr txBox="1">
            <a:spLocks/>
          </p:cNvSpPr>
          <p:nvPr/>
        </p:nvSpPr>
        <p:spPr>
          <a:xfrm>
            <a:off x="262428" y="2371180"/>
            <a:ext cx="11685732" cy="2677656"/>
          </a:xfrm>
          <a:prstGeom prst="rect">
            <a:avLst/>
          </a:prstGeom>
          <a:noFill/>
        </p:spPr>
        <p:txBody>
          <a:bodyPr wrap="square" rtlCol="0">
            <a:spAutoFit/>
          </a:bodyPr>
          <a:lstStyle/>
          <a:p>
            <a:r>
              <a:rPr lang="nl-NL" sz="1400" dirty="0"/>
              <a:t>4D-Engineers is een onafhankelijk ingenieursbureau voor technische consultancy en complex industriële productontwikkeling. 4D bestaat uit een netwerk van ingenieurs met minimaal 20 jaar werkervaring in uiteenlopende </a:t>
            </a:r>
            <a:r>
              <a:rPr lang="nl-NL" sz="1400" dirty="0" err="1"/>
              <a:t>high-tech</a:t>
            </a:r>
            <a:r>
              <a:rPr lang="nl-NL" sz="1400" dirty="0"/>
              <a:t> vakgebieden.</a:t>
            </a:r>
          </a:p>
          <a:p>
            <a:endParaRPr lang="nl-NL" sz="1400" dirty="0"/>
          </a:p>
          <a:p>
            <a:r>
              <a:rPr lang="nl-NL" sz="1400" dirty="0"/>
              <a:t>Wij werken (bij voorkeur) op basis van korte cycli van 4-6 weken voor een vooraf overeengekomen prijs en deliverable. Afhankelijk van de complexiteit van de opdracht worden, tot aan de marktintroductie, gemiddeld 2-8 van deze ontwerpcycli doorlopen. Hierdoor kunnen we snel en met het beheersen van de R&amp;D kosten opdrachtgevers ondersteunen.</a:t>
            </a:r>
          </a:p>
          <a:p>
            <a:endParaRPr lang="nl-NL" sz="1400" dirty="0"/>
          </a:p>
          <a:p>
            <a:r>
              <a:rPr lang="nl-NL" sz="1400" dirty="0"/>
              <a:t>Omdat veruit de meeste opdrachtgevers ons niet via een website maar via ons netwerk vinden, hebben we opdrachtgevers uit ons netwerk bereid gevonden met geïnteresseerden af te stemmen over hun ervaringen. Deze referenten kunnen desgewenst direct worden benaderd.</a:t>
            </a:r>
          </a:p>
          <a:p>
            <a:endParaRPr lang="nl-NL" sz="1400" dirty="0"/>
          </a:p>
          <a:p>
            <a:r>
              <a:rPr lang="nl-NL" sz="1400" dirty="0"/>
              <a:t>Maar natuurlijk is een afspraak met een van ons de snelste weg naar een kennismaking. Neem dan contact op met Michiel Wanninkhof 0653 267 122 of </a:t>
            </a:r>
            <a:r>
              <a:rPr lang="nl-NL" sz="1400" dirty="0">
                <a:hlinkClick r:id="rId3"/>
              </a:rPr>
              <a:t>Michiel@4D-Engineers.com</a:t>
            </a:r>
            <a:endParaRPr lang="nl-NL" sz="1400" dirty="0"/>
          </a:p>
        </p:txBody>
      </p:sp>
    </p:spTree>
    <p:extLst>
      <p:ext uri="{BB962C8B-B14F-4D97-AF65-F5344CB8AC3E}">
        <p14:creationId xmlns:p14="http://schemas.microsoft.com/office/powerpoint/2010/main" val="35095865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A244F4-5781-4469-096B-6842C6F7784E}"/>
            </a:ext>
          </a:extLst>
        </p:cNvPr>
        <p:cNvGrpSpPr/>
        <p:nvPr/>
      </p:nvGrpSpPr>
      <p:grpSpPr>
        <a:xfrm>
          <a:off x="0" y="0"/>
          <a:ext cx="0" cy="0"/>
          <a:chOff x="0" y="0"/>
          <a:chExt cx="0" cy="0"/>
        </a:xfrm>
      </p:grpSpPr>
      <p:sp>
        <p:nvSpPr>
          <p:cNvPr id="8" name="TextBox 2">
            <a:extLst>
              <a:ext uri="{FF2B5EF4-FFF2-40B4-BE49-F238E27FC236}">
                <a16:creationId xmlns:a16="http://schemas.microsoft.com/office/drawing/2014/main" id="{1CDA4A6A-1C3F-FCFC-ED91-3DBCE10B6B87}"/>
              </a:ext>
            </a:extLst>
          </p:cNvPr>
          <p:cNvSpPr txBox="1"/>
          <p:nvPr/>
        </p:nvSpPr>
        <p:spPr>
          <a:xfrm>
            <a:off x="5626769" y="6428877"/>
            <a:ext cx="938462" cy="276999"/>
          </a:xfrm>
          <a:prstGeom prst="rect">
            <a:avLst/>
          </a:prstGeom>
          <a:noFill/>
        </p:spPr>
        <p:txBody>
          <a:bodyPr wrap="none" rtlCol="0">
            <a:spAutoFit/>
          </a:bodyPr>
          <a:lstStyle/>
          <a:p>
            <a:r>
              <a:rPr lang="nl-NL" sz="1200" b="1" dirty="0">
                <a:latin typeface="Candara" panose="020E0502030303020204" pitchFamily="34" charset="0"/>
              </a:rPr>
              <a:t>4D Website</a:t>
            </a:r>
          </a:p>
        </p:txBody>
      </p:sp>
      <p:pic>
        <p:nvPicPr>
          <p:cNvPr id="6" name="Picture 5">
            <a:extLst>
              <a:ext uri="{FF2B5EF4-FFF2-40B4-BE49-F238E27FC236}">
                <a16:creationId xmlns:a16="http://schemas.microsoft.com/office/drawing/2014/main" id="{CF2E45FA-B57C-A7BD-59E5-681D049BF71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76169" y="174857"/>
            <a:ext cx="439662" cy="340862"/>
          </a:xfrm>
          <a:prstGeom prst="rect">
            <a:avLst/>
          </a:prstGeom>
        </p:spPr>
      </p:pic>
      <p:sp>
        <p:nvSpPr>
          <p:cNvPr id="2" name="TextBox 1">
            <a:extLst>
              <a:ext uri="{FF2B5EF4-FFF2-40B4-BE49-F238E27FC236}">
                <a16:creationId xmlns:a16="http://schemas.microsoft.com/office/drawing/2014/main" id="{F62326C4-03F8-CCD6-966C-935170305DC3}"/>
              </a:ext>
            </a:extLst>
          </p:cNvPr>
          <p:cNvSpPr txBox="1"/>
          <p:nvPr/>
        </p:nvSpPr>
        <p:spPr>
          <a:xfrm>
            <a:off x="4600077" y="934751"/>
            <a:ext cx="2991846" cy="923330"/>
          </a:xfrm>
          <a:prstGeom prst="rect">
            <a:avLst/>
          </a:prstGeom>
          <a:noFill/>
        </p:spPr>
        <p:txBody>
          <a:bodyPr wrap="none" rtlCol="0">
            <a:spAutoFit/>
          </a:bodyPr>
          <a:lstStyle/>
          <a:p>
            <a:pPr algn="ctr"/>
            <a:r>
              <a:rPr lang="nl-NL" sz="3600" b="1" dirty="0"/>
              <a:t>4D-Engineers</a:t>
            </a:r>
          </a:p>
          <a:p>
            <a:pPr algn="ctr"/>
            <a:r>
              <a:rPr lang="nl-NL" dirty="0"/>
              <a:t>Consultancy &amp; Engineering</a:t>
            </a:r>
          </a:p>
        </p:txBody>
      </p:sp>
      <p:sp>
        <p:nvSpPr>
          <p:cNvPr id="4" name="TextBox 3">
            <a:extLst>
              <a:ext uri="{FF2B5EF4-FFF2-40B4-BE49-F238E27FC236}">
                <a16:creationId xmlns:a16="http://schemas.microsoft.com/office/drawing/2014/main" id="{D7A1589D-4957-B798-1977-4F6456B83F2E}"/>
              </a:ext>
            </a:extLst>
          </p:cNvPr>
          <p:cNvSpPr txBox="1">
            <a:spLocks/>
          </p:cNvSpPr>
          <p:nvPr/>
        </p:nvSpPr>
        <p:spPr>
          <a:xfrm>
            <a:off x="262428" y="2371180"/>
            <a:ext cx="11685732" cy="5693866"/>
          </a:xfrm>
          <a:prstGeom prst="rect">
            <a:avLst/>
          </a:prstGeom>
          <a:noFill/>
        </p:spPr>
        <p:txBody>
          <a:bodyPr wrap="square" rtlCol="0">
            <a:spAutoFit/>
          </a:bodyPr>
          <a:lstStyle/>
          <a:p>
            <a:r>
              <a:rPr lang="nl-NL" sz="1400" dirty="0"/>
              <a:t>4D-Engineers is een onafhankelijk ingenieursbureau voor technische consultancy en complex industriële productontwikkeling. 4D bestaat uit een netwerk van ingenieurs met minimaal 20 jaar werkervaring in uiteenlopende </a:t>
            </a:r>
            <a:r>
              <a:rPr lang="nl-NL" sz="1400" dirty="0" err="1"/>
              <a:t>high-tech</a:t>
            </a:r>
            <a:r>
              <a:rPr lang="nl-NL" sz="1400" dirty="0"/>
              <a:t> vakgebieden.</a:t>
            </a:r>
          </a:p>
          <a:p>
            <a:endParaRPr lang="nl-NL" sz="1400" dirty="0"/>
          </a:p>
          <a:p>
            <a:r>
              <a:rPr lang="nl-NL" sz="1400" dirty="0"/>
              <a:t>Wij werken (bij voorkeur) op basis van korte cycli van 4-6 weken voor een vooraf overeengekomen prijs en deliverable. Afhankelijk van de complexiteit van de opdracht worden, tot aan de marktintroductie, gemiddeld 2-8 van deze ontwerpcycli doorlopen. Hierdoor kunnen we snel en met het beheersen van de R&amp;D kosten opdrachtgevers ondersteunen.</a:t>
            </a:r>
          </a:p>
          <a:p>
            <a:endParaRPr lang="nl-NL" sz="1400" dirty="0"/>
          </a:p>
          <a:p>
            <a:r>
              <a:rPr lang="nl-NL" sz="1400" dirty="0"/>
              <a:t>Omdat veruit de meeste opdrachtgevers ons niet via een website maar via ons netwerk vinden, hebben we bij genoemde referenties ook email </a:t>
            </a:r>
            <a:r>
              <a:rPr lang="nl-NL" sz="1400" dirty="0" err="1"/>
              <a:t>adress</a:t>
            </a:r>
            <a:r>
              <a:rPr lang="nl-NL" sz="1400" dirty="0"/>
              <a:t> van eerdere opdrachtgevers opgenomen. Deze kunnen desgewenst direct worden benaderd.</a:t>
            </a:r>
          </a:p>
          <a:p>
            <a:endParaRPr lang="nl-NL" sz="1400" dirty="0"/>
          </a:p>
          <a:p>
            <a:r>
              <a:rPr lang="nl-NL" sz="1400" dirty="0"/>
              <a:t>Maar natuurlijk is een afspraak met een of meer van ons de snelste weg naar een kennismaking. Neem daarvoor contact op met </a:t>
            </a:r>
            <a:r>
              <a:rPr lang="nl-NL" sz="1400" dirty="0" err="1"/>
              <a:t>Michiewl</a:t>
            </a:r>
            <a:r>
              <a:rPr lang="nl-NL" sz="1400" dirty="0"/>
              <a:t>  Wanninkhof 0653 267 122 of </a:t>
            </a:r>
            <a:r>
              <a:rPr lang="nl-NL" sz="1400" dirty="0">
                <a:hlinkClick r:id="rId3"/>
              </a:rPr>
              <a:t>Michiel@4D-Engineers.com</a:t>
            </a:r>
            <a:endParaRPr lang="nl-NL" sz="1400" dirty="0"/>
          </a:p>
          <a:p>
            <a:endParaRPr lang="nl-NL" sz="1400" dirty="0"/>
          </a:p>
          <a:p>
            <a:r>
              <a:rPr lang="nl-NL" sz="1400" dirty="0"/>
              <a:t>van onze </a:t>
            </a:r>
          </a:p>
          <a:p>
            <a:r>
              <a:rPr lang="nl-NL" sz="1400" dirty="0"/>
              <a:t> </a:t>
            </a:r>
          </a:p>
          <a:p>
            <a:endParaRPr lang="nl-NL" sz="1400" dirty="0"/>
          </a:p>
          <a:p>
            <a:r>
              <a:rPr lang="nl-NL" sz="1400" dirty="0"/>
              <a:t>Onze dienstverlening kent twee vormen: Consultancy en Complexe Productontwikkeling.</a:t>
            </a:r>
          </a:p>
          <a:p>
            <a:r>
              <a:rPr lang="nl-NL" sz="1400" dirty="0"/>
              <a:t>Consultancy. Ondersteuning en 2nd opinion</a:t>
            </a:r>
          </a:p>
          <a:p>
            <a:r>
              <a:rPr lang="nl-NL" sz="1400" dirty="0"/>
              <a:t>Complexe Productontwikkeling. Hier gaat het om de ontwikkeling en begeleiding bij de marktintroductie van complete technische producten en systemen. Denk hierbij aan uiteenlopende machines met bewegende onderdelen. </a:t>
            </a:r>
          </a:p>
          <a:p>
            <a:endParaRPr lang="nl-NL" sz="1400" dirty="0"/>
          </a:p>
          <a:p>
            <a:r>
              <a:rPr lang="nl-NL" sz="1400" dirty="0"/>
              <a:t>Wij werken anders dan de meeste ingenieursbureau</a:t>
            </a:r>
          </a:p>
          <a:p>
            <a:endParaRPr lang="nl-NL" sz="1400" dirty="0"/>
          </a:p>
          <a:p>
            <a:r>
              <a:rPr lang="nl-NL" sz="1400" dirty="0"/>
              <a:t>aar mogelijk maken wij gebruik van een methode QIS</a:t>
            </a:r>
          </a:p>
          <a:p>
            <a:endParaRPr lang="nl-NL" sz="1400" dirty="0"/>
          </a:p>
          <a:p>
            <a:endParaRPr lang="nl-NL" sz="1400" dirty="0"/>
          </a:p>
        </p:txBody>
      </p:sp>
    </p:spTree>
    <p:extLst>
      <p:ext uri="{BB962C8B-B14F-4D97-AF65-F5344CB8AC3E}">
        <p14:creationId xmlns:p14="http://schemas.microsoft.com/office/powerpoint/2010/main" val="12674080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A244F4-5781-4469-096B-6842C6F7784E}"/>
            </a:ext>
          </a:extLst>
        </p:cNvPr>
        <p:cNvGrpSpPr/>
        <p:nvPr/>
      </p:nvGrpSpPr>
      <p:grpSpPr>
        <a:xfrm>
          <a:off x="0" y="0"/>
          <a:ext cx="0" cy="0"/>
          <a:chOff x="0" y="0"/>
          <a:chExt cx="0" cy="0"/>
        </a:xfrm>
      </p:grpSpPr>
      <p:sp>
        <p:nvSpPr>
          <p:cNvPr id="8" name="TextBox 2">
            <a:extLst>
              <a:ext uri="{FF2B5EF4-FFF2-40B4-BE49-F238E27FC236}">
                <a16:creationId xmlns:a16="http://schemas.microsoft.com/office/drawing/2014/main" id="{1CDA4A6A-1C3F-FCFC-ED91-3DBCE10B6B87}"/>
              </a:ext>
            </a:extLst>
          </p:cNvPr>
          <p:cNvSpPr txBox="1"/>
          <p:nvPr/>
        </p:nvSpPr>
        <p:spPr>
          <a:xfrm>
            <a:off x="5626769" y="6428877"/>
            <a:ext cx="938462" cy="276999"/>
          </a:xfrm>
          <a:prstGeom prst="rect">
            <a:avLst/>
          </a:prstGeom>
          <a:noFill/>
        </p:spPr>
        <p:txBody>
          <a:bodyPr wrap="none" rtlCol="0">
            <a:spAutoFit/>
          </a:bodyPr>
          <a:lstStyle/>
          <a:p>
            <a:r>
              <a:rPr lang="nl-NL" sz="1200" b="1" dirty="0">
                <a:latin typeface="Candara" panose="020E0502030303020204" pitchFamily="34" charset="0"/>
              </a:rPr>
              <a:t>4D Website</a:t>
            </a:r>
          </a:p>
        </p:txBody>
      </p:sp>
      <p:pic>
        <p:nvPicPr>
          <p:cNvPr id="6" name="Picture 5">
            <a:extLst>
              <a:ext uri="{FF2B5EF4-FFF2-40B4-BE49-F238E27FC236}">
                <a16:creationId xmlns:a16="http://schemas.microsoft.com/office/drawing/2014/main" id="{CF2E45FA-B57C-A7BD-59E5-681D049BF71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76169" y="174857"/>
            <a:ext cx="439662" cy="340862"/>
          </a:xfrm>
          <a:prstGeom prst="rect">
            <a:avLst/>
          </a:prstGeom>
        </p:spPr>
      </p:pic>
      <p:sp>
        <p:nvSpPr>
          <p:cNvPr id="2" name="TextBox 1">
            <a:extLst>
              <a:ext uri="{FF2B5EF4-FFF2-40B4-BE49-F238E27FC236}">
                <a16:creationId xmlns:a16="http://schemas.microsoft.com/office/drawing/2014/main" id="{F62326C4-03F8-CCD6-966C-935170305DC3}"/>
              </a:ext>
            </a:extLst>
          </p:cNvPr>
          <p:cNvSpPr txBox="1"/>
          <p:nvPr/>
        </p:nvSpPr>
        <p:spPr>
          <a:xfrm>
            <a:off x="1409978" y="1948211"/>
            <a:ext cx="8932382" cy="369332"/>
          </a:xfrm>
          <a:prstGeom prst="rect">
            <a:avLst/>
          </a:prstGeom>
          <a:noFill/>
        </p:spPr>
        <p:txBody>
          <a:bodyPr wrap="none" rtlCol="0">
            <a:spAutoFit/>
          </a:bodyPr>
          <a:lstStyle/>
          <a:p>
            <a:r>
              <a:rPr lang="nl-NL" dirty="0"/>
              <a:t>4D Engineers is een onafhankelijk ingenieursbureau voor complex productontwikkeling</a:t>
            </a:r>
          </a:p>
        </p:txBody>
      </p:sp>
      <p:sp>
        <p:nvSpPr>
          <p:cNvPr id="3" name="TextBox 2">
            <a:extLst>
              <a:ext uri="{FF2B5EF4-FFF2-40B4-BE49-F238E27FC236}">
                <a16:creationId xmlns:a16="http://schemas.microsoft.com/office/drawing/2014/main" id="{50572712-0DAA-23AA-AF55-E60C86F5AAE4}"/>
              </a:ext>
            </a:extLst>
          </p:cNvPr>
          <p:cNvSpPr txBox="1"/>
          <p:nvPr/>
        </p:nvSpPr>
        <p:spPr>
          <a:xfrm>
            <a:off x="590550" y="2595728"/>
            <a:ext cx="9886402" cy="2031325"/>
          </a:xfrm>
          <a:prstGeom prst="rect">
            <a:avLst/>
          </a:prstGeom>
          <a:noFill/>
        </p:spPr>
        <p:txBody>
          <a:bodyPr wrap="square" rtlCol="0">
            <a:spAutoFit/>
          </a:bodyPr>
          <a:lstStyle/>
          <a:p>
            <a:r>
              <a:rPr lang="nl-NL" i="1" dirty="0"/>
              <a:t>4D Engineers is een netwerk van ervaren ingenieurs voor de ontwikkeling van complexere (mechatronische) producten. De naam 4D Engineers staat voor de 4 disciplines waarover wij beschikken. Design, </a:t>
            </a:r>
            <a:r>
              <a:rPr lang="nl-NL" i="1" dirty="0" err="1"/>
              <a:t>Electronica</a:t>
            </a:r>
            <a:r>
              <a:rPr lang="nl-NL" i="1" dirty="0"/>
              <a:t>, Firmware &amp; Mechanica. Door te beschikken over teams waarin elke discipline is vertegenwoordigd kunnen betere ontwerpkeuzes worden gemaakt. Sommige oplossingen zijn vooral mechanisch met </a:t>
            </a:r>
            <a:r>
              <a:rPr lang="nl-NL" i="1" dirty="0" err="1"/>
              <a:t>electronische</a:t>
            </a:r>
            <a:r>
              <a:rPr lang="nl-NL" i="1" dirty="0"/>
              <a:t> ondersteuning anderen zijn meer </a:t>
            </a:r>
            <a:r>
              <a:rPr lang="nl-NL" i="1" dirty="0" err="1"/>
              <a:t>electronica</a:t>
            </a:r>
            <a:r>
              <a:rPr lang="nl-NL" i="1" dirty="0"/>
              <a:t> met firmware en eenvoudige mechanica. Bij alle ontwikkelingen blijft de designer/vormgever over de schouder meekijken</a:t>
            </a:r>
          </a:p>
        </p:txBody>
      </p:sp>
    </p:spTree>
    <p:extLst>
      <p:ext uri="{BB962C8B-B14F-4D97-AF65-F5344CB8AC3E}">
        <p14:creationId xmlns:p14="http://schemas.microsoft.com/office/powerpoint/2010/main" val="8797742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A244F4-5781-4469-096B-6842C6F7784E}"/>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BF244CC7-2938-11E5-3BE0-F03CC5C491A1}"/>
              </a:ext>
            </a:extLst>
          </p:cNvPr>
          <p:cNvSpPr/>
          <p:nvPr/>
        </p:nvSpPr>
        <p:spPr>
          <a:xfrm>
            <a:off x="0" y="1653540"/>
            <a:ext cx="12192000" cy="401574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8" name="TextBox 2">
            <a:extLst>
              <a:ext uri="{FF2B5EF4-FFF2-40B4-BE49-F238E27FC236}">
                <a16:creationId xmlns:a16="http://schemas.microsoft.com/office/drawing/2014/main" id="{1CDA4A6A-1C3F-FCFC-ED91-3DBCE10B6B87}"/>
              </a:ext>
            </a:extLst>
          </p:cNvPr>
          <p:cNvSpPr txBox="1"/>
          <p:nvPr/>
        </p:nvSpPr>
        <p:spPr>
          <a:xfrm>
            <a:off x="5626769" y="6428877"/>
            <a:ext cx="938462" cy="276999"/>
          </a:xfrm>
          <a:prstGeom prst="rect">
            <a:avLst/>
          </a:prstGeom>
          <a:noFill/>
        </p:spPr>
        <p:txBody>
          <a:bodyPr wrap="none" rtlCol="0">
            <a:spAutoFit/>
          </a:bodyPr>
          <a:lstStyle/>
          <a:p>
            <a:r>
              <a:rPr lang="nl-NL" sz="1200" b="1" dirty="0">
                <a:latin typeface="Candara" panose="020E0502030303020204" pitchFamily="34" charset="0"/>
              </a:rPr>
              <a:t>4D Website</a:t>
            </a:r>
          </a:p>
        </p:txBody>
      </p:sp>
      <p:pic>
        <p:nvPicPr>
          <p:cNvPr id="6" name="Picture 5">
            <a:extLst>
              <a:ext uri="{FF2B5EF4-FFF2-40B4-BE49-F238E27FC236}">
                <a16:creationId xmlns:a16="http://schemas.microsoft.com/office/drawing/2014/main" id="{CF2E45FA-B57C-A7BD-59E5-681D049BF71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76169" y="174857"/>
            <a:ext cx="439662" cy="340862"/>
          </a:xfrm>
          <a:prstGeom prst="rect">
            <a:avLst/>
          </a:prstGeom>
        </p:spPr>
      </p:pic>
      <p:sp>
        <p:nvSpPr>
          <p:cNvPr id="9" name="Rectangle: Rounded Corners 8">
            <a:extLst>
              <a:ext uri="{FF2B5EF4-FFF2-40B4-BE49-F238E27FC236}">
                <a16:creationId xmlns:a16="http://schemas.microsoft.com/office/drawing/2014/main" id="{D6B37396-4CA5-A9E4-07AB-06A4ACD272DA}"/>
              </a:ext>
            </a:extLst>
          </p:cNvPr>
          <p:cNvSpPr/>
          <p:nvPr/>
        </p:nvSpPr>
        <p:spPr>
          <a:xfrm>
            <a:off x="6195060" y="2065020"/>
            <a:ext cx="2636520" cy="3162300"/>
          </a:xfrm>
          <a:prstGeom prst="roundRect">
            <a:avLst>
              <a:gd name="adj" fmla="val 5973"/>
            </a:avLst>
          </a:prstGeom>
          <a:solidFill>
            <a:schemeClr val="bg1"/>
          </a:solidFill>
          <a:ln w="31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NL" dirty="0">
                <a:solidFill>
                  <a:schemeClr val="tx1"/>
                </a:solidFill>
              </a:rPr>
              <a:t>Michiel</a:t>
            </a:r>
          </a:p>
        </p:txBody>
      </p:sp>
      <p:sp>
        <p:nvSpPr>
          <p:cNvPr id="2" name="Rectangle: Rounded Corners 1">
            <a:extLst>
              <a:ext uri="{FF2B5EF4-FFF2-40B4-BE49-F238E27FC236}">
                <a16:creationId xmlns:a16="http://schemas.microsoft.com/office/drawing/2014/main" id="{EAB19581-F8D8-9795-B28B-5F9F0FD8FA65}"/>
              </a:ext>
            </a:extLst>
          </p:cNvPr>
          <p:cNvSpPr/>
          <p:nvPr/>
        </p:nvSpPr>
        <p:spPr>
          <a:xfrm>
            <a:off x="9144000" y="2065020"/>
            <a:ext cx="2636520" cy="3162300"/>
          </a:xfrm>
          <a:prstGeom prst="roundRect">
            <a:avLst>
              <a:gd name="adj" fmla="val 5973"/>
            </a:avLst>
          </a:prstGeom>
          <a:solidFill>
            <a:schemeClr val="bg1"/>
          </a:solidFill>
          <a:ln w="31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3" name="Rectangle: Rounded Corners 2">
            <a:extLst>
              <a:ext uri="{FF2B5EF4-FFF2-40B4-BE49-F238E27FC236}">
                <a16:creationId xmlns:a16="http://schemas.microsoft.com/office/drawing/2014/main" id="{E4554985-1436-CD22-C49E-4C8919093D9B}"/>
              </a:ext>
            </a:extLst>
          </p:cNvPr>
          <p:cNvSpPr/>
          <p:nvPr/>
        </p:nvSpPr>
        <p:spPr>
          <a:xfrm>
            <a:off x="3246120" y="2065020"/>
            <a:ext cx="2636520" cy="3162300"/>
          </a:xfrm>
          <a:prstGeom prst="roundRect">
            <a:avLst>
              <a:gd name="adj" fmla="val 5973"/>
            </a:avLst>
          </a:prstGeom>
          <a:solidFill>
            <a:schemeClr val="bg1"/>
          </a:solidFill>
          <a:ln w="31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4" name="Rectangle: Rounded Corners 3">
            <a:extLst>
              <a:ext uri="{FF2B5EF4-FFF2-40B4-BE49-F238E27FC236}">
                <a16:creationId xmlns:a16="http://schemas.microsoft.com/office/drawing/2014/main" id="{74D9E0FE-1C30-B25C-D2CC-CA5C5BBE01EC}"/>
              </a:ext>
            </a:extLst>
          </p:cNvPr>
          <p:cNvSpPr/>
          <p:nvPr/>
        </p:nvSpPr>
        <p:spPr>
          <a:xfrm>
            <a:off x="297180" y="2065020"/>
            <a:ext cx="2636520" cy="3162300"/>
          </a:xfrm>
          <a:prstGeom prst="roundRect">
            <a:avLst>
              <a:gd name="adj" fmla="val 5973"/>
            </a:avLst>
          </a:prstGeom>
          <a:solidFill>
            <a:schemeClr val="bg1"/>
          </a:solidFill>
          <a:ln w="31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a:p>
        </p:txBody>
      </p:sp>
    </p:spTree>
    <p:extLst>
      <p:ext uri="{BB962C8B-B14F-4D97-AF65-F5344CB8AC3E}">
        <p14:creationId xmlns:p14="http://schemas.microsoft.com/office/powerpoint/2010/main" val="18726900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A244F4-5781-4469-096B-6842C6F7784E}"/>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BF244CC7-2938-11E5-3BE0-F03CC5C491A1}"/>
              </a:ext>
            </a:extLst>
          </p:cNvPr>
          <p:cNvSpPr/>
          <p:nvPr/>
        </p:nvSpPr>
        <p:spPr>
          <a:xfrm>
            <a:off x="0" y="1653540"/>
            <a:ext cx="12192000" cy="401574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8" name="TextBox 2">
            <a:extLst>
              <a:ext uri="{FF2B5EF4-FFF2-40B4-BE49-F238E27FC236}">
                <a16:creationId xmlns:a16="http://schemas.microsoft.com/office/drawing/2014/main" id="{1CDA4A6A-1C3F-FCFC-ED91-3DBCE10B6B87}"/>
              </a:ext>
            </a:extLst>
          </p:cNvPr>
          <p:cNvSpPr txBox="1"/>
          <p:nvPr/>
        </p:nvSpPr>
        <p:spPr>
          <a:xfrm>
            <a:off x="5626769" y="6428877"/>
            <a:ext cx="938462" cy="276999"/>
          </a:xfrm>
          <a:prstGeom prst="rect">
            <a:avLst/>
          </a:prstGeom>
          <a:noFill/>
        </p:spPr>
        <p:txBody>
          <a:bodyPr wrap="none" rtlCol="0">
            <a:spAutoFit/>
          </a:bodyPr>
          <a:lstStyle/>
          <a:p>
            <a:r>
              <a:rPr lang="nl-NL" sz="1200" b="1" dirty="0">
                <a:latin typeface="Candara" panose="020E0502030303020204" pitchFamily="34" charset="0"/>
              </a:rPr>
              <a:t>4D Website</a:t>
            </a:r>
          </a:p>
        </p:txBody>
      </p:sp>
      <p:pic>
        <p:nvPicPr>
          <p:cNvPr id="6" name="Picture 5">
            <a:extLst>
              <a:ext uri="{FF2B5EF4-FFF2-40B4-BE49-F238E27FC236}">
                <a16:creationId xmlns:a16="http://schemas.microsoft.com/office/drawing/2014/main" id="{CF2E45FA-B57C-A7BD-59E5-681D049BF71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76169" y="174857"/>
            <a:ext cx="439662" cy="340862"/>
          </a:xfrm>
          <a:prstGeom prst="rect">
            <a:avLst/>
          </a:prstGeom>
        </p:spPr>
      </p:pic>
      <p:sp>
        <p:nvSpPr>
          <p:cNvPr id="9" name="Rectangle: Rounded Corners 8">
            <a:extLst>
              <a:ext uri="{FF2B5EF4-FFF2-40B4-BE49-F238E27FC236}">
                <a16:creationId xmlns:a16="http://schemas.microsoft.com/office/drawing/2014/main" id="{D6B37396-4CA5-A9E4-07AB-06A4ACD272DA}"/>
              </a:ext>
            </a:extLst>
          </p:cNvPr>
          <p:cNvSpPr/>
          <p:nvPr/>
        </p:nvSpPr>
        <p:spPr>
          <a:xfrm>
            <a:off x="5341620" y="2065020"/>
            <a:ext cx="2636520" cy="3162300"/>
          </a:xfrm>
          <a:prstGeom prst="roundRect">
            <a:avLst>
              <a:gd name="adj" fmla="val 5973"/>
            </a:avLst>
          </a:prstGeom>
          <a:solidFill>
            <a:schemeClr val="bg1"/>
          </a:solidFill>
          <a:ln w="31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1" name="Rectangle: Rounded Corners 10">
            <a:extLst>
              <a:ext uri="{FF2B5EF4-FFF2-40B4-BE49-F238E27FC236}">
                <a16:creationId xmlns:a16="http://schemas.microsoft.com/office/drawing/2014/main" id="{A979BF3A-67DD-A382-743A-D624905CCCD4}"/>
              </a:ext>
            </a:extLst>
          </p:cNvPr>
          <p:cNvSpPr/>
          <p:nvPr/>
        </p:nvSpPr>
        <p:spPr>
          <a:xfrm>
            <a:off x="8221980" y="2065020"/>
            <a:ext cx="3688080" cy="3162300"/>
          </a:xfrm>
          <a:prstGeom prst="roundRect">
            <a:avLst>
              <a:gd name="adj" fmla="val 5973"/>
            </a:avLst>
          </a:prstGeom>
          <a:solidFill>
            <a:schemeClr val="bg1"/>
          </a:solidFill>
          <a:ln w="31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2" name="Rectangle: Rounded Corners 11">
            <a:extLst>
              <a:ext uri="{FF2B5EF4-FFF2-40B4-BE49-F238E27FC236}">
                <a16:creationId xmlns:a16="http://schemas.microsoft.com/office/drawing/2014/main" id="{1553CDE0-8BD5-E537-9C73-C97BE490830E}"/>
              </a:ext>
            </a:extLst>
          </p:cNvPr>
          <p:cNvSpPr/>
          <p:nvPr/>
        </p:nvSpPr>
        <p:spPr>
          <a:xfrm>
            <a:off x="3169920" y="2065020"/>
            <a:ext cx="1927860" cy="3162300"/>
          </a:xfrm>
          <a:prstGeom prst="roundRect">
            <a:avLst>
              <a:gd name="adj" fmla="val 5973"/>
            </a:avLst>
          </a:prstGeom>
          <a:solidFill>
            <a:schemeClr val="bg1"/>
          </a:solidFill>
          <a:ln w="31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3" name="Rectangle: Rounded Corners 12">
            <a:extLst>
              <a:ext uri="{FF2B5EF4-FFF2-40B4-BE49-F238E27FC236}">
                <a16:creationId xmlns:a16="http://schemas.microsoft.com/office/drawing/2014/main" id="{AAE7C309-241F-FE81-997E-9A678D784FC6}"/>
              </a:ext>
            </a:extLst>
          </p:cNvPr>
          <p:cNvSpPr/>
          <p:nvPr/>
        </p:nvSpPr>
        <p:spPr>
          <a:xfrm>
            <a:off x="289560" y="2065020"/>
            <a:ext cx="2636520" cy="3162300"/>
          </a:xfrm>
          <a:prstGeom prst="roundRect">
            <a:avLst>
              <a:gd name="adj" fmla="val 5973"/>
            </a:avLst>
          </a:prstGeom>
          <a:solidFill>
            <a:schemeClr val="bg1"/>
          </a:solidFill>
          <a:ln w="31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5" name="TextBox 14">
            <a:extLst>
              <a:ext uri="{FF2B5EF4-FFF2-40B4-BE49-F238E27FC236}">
                <a16:creationId xmlns:a16="http://schemas.microsoft.com/office/drawing/2014/main" id="{8D929FDA-9117-45D3-5AF3-BFF41AEEB9EF}"/>
              </a:ext>
            </a:extLst>
          </p:cNvPr>
          <p:cNvSpPr txBox="1"/>
          <p:nvPr/>
        </p:nvSpPr>
        <p:spPr>
          <a:xfrm>
            <a:off x="5378715" y="4424778"/>
            <a:ext cx="2561325" cy="738664"/>
          </a:xfrm>
          <a:prstGeom prst="rect">
            <a:avLst/>
          </a:prstGeom>
          <a:noFill/>
        </p:spPr>
        <p:txBody>
          <a:bodyPr wrap="square" rtlCol="0">
            <a:spAutoFit/>
          </a:bodyPr>
          <a:lstStyle/>
          <a:p>
            <a:r>
              <a:rPr lang="nl-NL" sz="1050" dirty="0"/>
              <a:t>De NS stationsklok werk met een centraal aangestuurde </a:t>
            </a:r>
            <a:r>
              <a:rPr lang="nl-NL" sz="1050" dirty="0" err="1"/>
              <a:t>pulsklok</a:t>
            </a:r>
            <a:r>
              <a:rPr lang="nl-NL" sz="1050" dirty="0"/>
              <a:t>. Deze klok verstuurt elke minuut een puls naar alle klokken in NL</a:t>
            </a:r>
          </a:p>
        </p:txBody>
      </p:sp>
      <p:sp>
        <p:nvSpPr>
          <p:cNvPr id="16" name="Oval 15">
            <a:extLst>
              <a:ext uri="{FF2B5EF4-FFF2-40B4-BE49-F238E27FC236}">
                <a16:creationId xmlns:a16="http://schemas.microsoft.com/office/drawing/2014/main" id="{2F15E1B0-3795-2A4F-F702-AFF1DF5189B4}"/>
              </a:ext>
            </a:extLst>
          </p:cNvPr>
          <p:cNvSpPr/>
          <p:nvPr/>
        </p:nvSpPr>
        <p:spPr>
          <a:xfrm>
            <a:off x="5955030" y="5386149"/>
            <a:ext cx="119629" cy="124302"/>
          </a:xfrm>
          <a:prstGeom prst="ellipse">
            <a:avLst/>
          </a:prstGeom>
          <a:solidFill>
            <a:schemeClr val="tx1"/>
          </a:solidFill>
          <a:ln w="31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7" name="Oval 16">
            <a:extLst>
              <a:ext uri="{FF2B5EF4-FFF2-40B4-BE49-F238E27FC236}">
                <a16:creationId xmlns:a16="http://schemas.microsoft.com/office/drawing/2014/main" id="{F177D5AF-C60C-04E6-2ACB-BFAD577607A2}"/>
              </a:ext>
            </a:extLst>
          </p:cNvPr>
          <p:cNvSpPr/>
          <p:nvPr/>
        </p:nvSpPr>
        <p:spPr>
          <a:xfrm>
            <a:off x="6102668" y="5386149"/>
            <a:ext cx="119629" cy="124302"/>
          </a:xfrm>
          <a:prstGeom prst="ellipse">
            <a:avLst/>
          </a:prstGeom>
          <a:solidFill>
            <a:schemeClr val="bg1"/>
          </a:solidFill>
          <a:ln w="31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8" name="Oval 17">
            <a:extLst>
              <a:ext uri="{FF2B5EF4-FFF2-40B4-BE49-F238E27FC236}">
                <a16:creationId xmlns:a16="http://schemas.microsoft.com/office/drawing/2014/main" id="{AAFE235B-F40F-B28A-EBCC-AD953AB228C6}"/>
              </a:ext>
            </a:extLst>
          </p:cNvPr>
          <p:cNvSpPr/>
          <p:nvPr/>
        </p:nvSpPr>
        <p:spPr>
          <a:xfrm>
            <a:off x="6250306" y="5386149"/>
            <a:ext cx="119629" cy="124302"/>
          </a:xfrm>
          <a:prstGeom prst="ellipse">
            <a:avLst/>
          </a:prstGeom>
          <a:solidFill>
            <a:schemeClr val="bg1"/>
          </a:solidFill>
          <a:ln w="31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9" name="Oval 18">
            <a:extLst>
              <a:ext uri="{FF2B5EF4-FFF2-40B4-BE49-F238E27FC236}">
                <a16:creationId xmlns:a16="http://schemas.microsoft.com/office/drawing/2014/main" id="{2956669C-CE38-A110-DA80-4B0E6BF82F68}"/>
              </a:ext>
            </a:extLst>
          </p:cNvPr>
          <p:cNvSpPr/>
          <p:nvPr/>
        </p:nvSpPr>
        <p:spPr>
          <a:xfrm>
            <a:off x="6397944" y="5386149"/>
            <a:ext cx="119629" cy="124302"/>
          </a:xfrm>
          <a:prstGeom prst="ellipse">
            <a:avLst/>
          </a:prstGeom>
          <a:solidFill>
            <a:schemeClr val="bg1"/>
          </a:solidFill>
          <a:ln w="31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20" name="Oval 19">
            <a:extLst>
              <a:ext uri="{FF2B5EF4-FFF2-40B4-BE49-F238E27FC236}">
                <a16:creationId xmlns:a16="http://schemas.microsoft.com/office/drawing/2014/main" id="{F7B6936D-BDC6-05B9-102B-23333C3AA078}"/>
              </a:ext>
            </a:extLst>
          </p:cNvPr>
          <p:cNvSpPr/>
          <p:nvPr/>
        </p:nvSpPr>
        <p:spPr>
          <a:xfrm>
            <a:off x="5807392" y="5386149"/>
            <a:ext cx="119629" cy="124302"/>
          </a:xfrm>
          <a:prstGeom prst="ellipse">
            <a:avLst/>
          </a:prstGeom>
          <a:solidFill>
            <a:schemeClr val="bg1"/>
          </a:solidFill>
          <a:ln w="31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a:p>
        </p:txBody>
      </p:sp>
      <p:pic>
        <p:nvPicPr>
          <p:cNvPr id="24" name="Picture 23">
            <a:extLst>
              <a:ext uri="{FF2B5EF4-FFF2-40B4-BE49-F238E27FC236}">
                <a16:creationId xmlns:a16="http://schemas.microsoft.com/office/drawing/2014/main" id="{3BC62985-CB5C-7F2F-7CE4-848A7D6A3B7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58330" y="2263855"/>
            <a:ext cx="2002094" cy="2002094"/>
          </a:xfrm>
          <a:prstGeom prst="rect">
            <a:avLst/>
          </a:prstGeom>
        </p:spPr>
      </p:pic>
    </p:spTree>
    <p:extLst>
      <p:ext uri="{BB962C8B-B14F-4D97-AF65-F5344CB8AC3E}">
        <p14:creationId xmlns:p14="http://schemas.microsoft.com/office/powerpoint/2010/main" val="9329883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A244F4-5781-4469-096B-6842C6F7784E}"/>
            </a:ext>
          </a:extLst>
        </p:cNvPr>
        <p:cNvGrpSpPr/>
        <p:nvPr/>
      </p:nvGrpSpPr>
      <p:grpSpPr>
        <a:xfrm>
          <a:off x="0" y="0"/>
          <a:ext cx="0" cy="0"/>
          <a:chOff x="0" y="0"/>
          <a:chExt cx="0" cy="0"/>
        </a:xfrm>
      </p:grpSpPr>
      <p:sp>
        <p:nvSpPr>
          <p:cNvPr id="8" name="TextBox 2">
            <a:extLst>
              <a:ext uri="{FF2B5EF4-FFF2-40B4-BE49-F238E27FC236}">
                <a16:creationId xmlns:a16="http://schemas.microsoft.com/office/drawing/2014/main" id="{1CDA4A6A-1C3F-FCFC-ED91-3DBCE10B6B87}"/>
              </a:ext>
            </a:extLst>
          </p:cNvPr>
          <p:cNvSpPr txBox="1"/>
          <p:nvPr/>
        </p:nvSpPr>
        <p:spPr>
          <a:xfrm>
            <a:off x="5626769" y="6428877"/>
            <a:ext cx="938462" cy="276999"/>
          </a:xfrm>
          <a:prstGeom prst="rect">
            <a:avLst/>
          </a:prstGeom>
          <a:noFill/>
        </p:spPr>
        <p:txBody>
          <a:bodyPr wrap="none" rtlCol="0">
            <a:spAutoFit/>
          </a:bodyPr>
          <a:lstStyle/>
          <a:p>
            <a:r>
              <a:rPr lang="nl-NL" sz="1200" b="1" dirty="0">
                <a:latin typeface="Candara" panose="020E0502030303020204" pitchFamily="34" charset="0"/>
              </a:rPr>
              <a:t>4D Website</a:t>
            </a:r>
          </a:p>
        </p:txBody>
      </p:sp>
      <p:pic>
        <p:nvPicPr>
          <p:cNvPr id="6" name="Picture 5">
            <a:extLst>
              <a:ext uri="{FF2B5EF4-FFF2-40B4-BE49-F238E27FC236}">
                <a16:creationId xmlns:a16="http://schemas.microsoft.com/office/drawing/2014/main" id="{CF2E45FA-B57C-A7BD-59E5-681D049BF71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76169" y="174857"/>
            <a:ext cx="439662" cy="340862"/>
          </a:xfrm>
          <a:prstGeom prst="rect">
            <a:avLst/>
          </a:prstGeom>
        </p:spPr>
      </p:pic>
      <p:sp>
        <p:nvSpPr>
          <p:cNvPr id="2" name="TextBox 1">
            <a:extLst>
              <a:ext uri="{FF2B5EF4-FFF2-40B4-BE49-F238E27FC236}">
                <a16:creationId xmlns:a16="http://schemas.microsoft.com/office/drawing/2014/main" id="{C1CFAB4F-FC11-2A01-055D-0D8215113C28}"/>
              </a:ext>
            </a:extLst>
          </p:cNvPr>
          <p:cNvSpPr txBox="1"/>
          <p:nvPr/>
        </p:nvSpPr>
        <p:spPr>
          <a:xfrm>
            <a:off x="4057650" y="2438400"/>
            <a:ext cx="3865417" cy="2308324"/>
          </a:xfrm>
          <a:prstGeom prst="rect">
            <a:avLst/>
          </a:prstGeom>
          <a:noFill/>
        </p:spPr>
        <p:txBody>
          <a:bodyPr wrap="none" rtlCol="0">
            <a:spAutoFit/>
          </a:bodyPr>
          <a:lstStyle/>
          <a:p>
            <a:r>
              <a:rPr lang="nl-NL" dirty="0"/>
              <a:t>Referenties verzamelen:</a:t>
            </a:r>
          </a:p>
          <a:p>
            <a:r>
              <a:rPr lang="nl-NL" dirty="0"/>
              <a:t>Gerwin de Haan (Profoto, Stockholm)</a:t>
            </a:r>
          </a:p>
          <a:p>
            <a:r>
              <a:rPr lang="nl-NL" dirty="0"/>
              <a:t>Tom de Regt (StyleShoots, Haarlem)</a:t>
            </a:r>
          </a:p>
          <a:p>
            <a:r>
              <a:rPr lang="nl-NL" dirty="0"/>
              <a:t>Leo de Zeeuw (Holland Sensor)</a:t>
            </a:r>
          </a:p>
          <a:p>
            <a:r>
              <a:rPr lang="nl-NL" dirty="0"/>
              <a:t>Conrad Chapman (Holland Sensor)</a:t>
            </a:r>
          </a:p>
          <a:p>
            <a:r>
              <a:rPr lang="nl-NL" dirty="0"/>
              <a:t>Jasper (MOOS, Amsterdam)</a:t>
            </a:r>
          </a:p>
          <a:p>
            <a:r>
              <a:rPr lang="nl-NL" dirty="0"/>
              <a:t>XXX </a:t>
            </a:r>
            <a:r>
              <a:rPr lang="nl-NL" dirty="0" err="1"/>
              <a:t>XXX</a:t>
            </a:r>
            <a:r>
              <a:rPr lang="nl-NL" dirty="0"/>
              <a:t> (Mastervolt, Amsterdam)</a:t>
            </a:r>
          </a:p>
          <a:p>
            <a:endParaRPr lang="nl-NL" dirty="0"/>
          </a:p>
        </p:txBody>
      </p:sp>
    </p:spTree>
    <p:extLst>
      <p:ext uri="{BB962C8B-B14F-4D97-AF65-F5344CB8AC3E}">
        <p14:creationId xmlns:p14="http://schemas.microsoft.com/office/powerpoint/2010/main" val="39078179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47012</TotalTime>
  <Words>602</Words>
  <Application>Microsoft Office PowerPoint</Application>
  <PresentationFormat>Widescreen</PresentationFormat>
  <Paragraphs>54</Paragraphs>
  <Slides>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vt:i4>
      </vt:variant>
    </vt:vector>
  </HeadingPairs>
  <TitlesOfParts>
    <vt:vector size="14" baseType="lpstr">
      <vt:lpstr>Aptos</vt:lpstr>
      <vt:lpstr>Aptos Display</vt:lpstr>
      <vt:lpstr>Arial</vt:lpstr>
      <vt:lpstr>Calibri</vt:lpstr>
      <vt:lpstr>Candara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Gijs Burmann</dc:creator>
  <cp:lastModifiedBy>Michiel Wanninkhof</cp:lastModifiedBy>
  <cp:revision>72</cp:revision>
  <dcterms:created xsi:type="dcterms:W3CDTF">2024-02-26T18:32:22Z</dcterms:created>
  <dcterms:modified xsi:type="dcterms:W3CDTF">2026-03-18T10:47:50Z</dcterms:modified>
</cp:coreProperties>
</file>